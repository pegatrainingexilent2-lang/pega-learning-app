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7" r:id="rId2"/>
    <p:sldId id="260" r:id="rId3"/>
    <p:sldId id="287" r:id="rId4"/>
    <p:sldId id="288" r:id="rId5"/>
    <p:sldId id="289" r:id="rId6"/>
    <p:sldId id="290" r:id="rId7"/>
    <p:sldId id="291" r:id="rId8"/>
    <p:sldId id="292" r:id="rId9"/>
    <p:sldId id="294" r:id="rId10"/>
    <p:sldId id="293" r:id="rId11"/>
    <p:sldId id="295" r:id="rId12"/>
    <p:sldId id="296" r:id="rId13"/>
    <p:sldId id="297" r:id="rId14"/>
    <p:sldId id="298" r:id="rId15"/>
    <p:sldId id="299" r:id="rId16"/>
    <p:sldId id="300" r:id="rId17"/>
    <p:sldId id="302" r:id="rId18"/>
    <p:sldId id="303" r:id="rId19"/>
    <p:sldId id="304" r:id="rId20"/>
    <p:sldId id="305" r:id="rId21"/>
    <p:sldId id="306" r:id="rId22"/>
    <p:sldId id="307" r:id="rId23"/>
    <p:sldId id="308" r:id="rId24"/>
    <p:sldId id="309" r:id="rId25"/>
    <p:sldId id="310" r:id="rId26"/>
    <p:sldId id="311" r:id="rId27"/>
    <p:sldId id="27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37EBAC-9AC8-4500-A25D-E4536E65865F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F934B1-345E-4875-BCED-58AC71E0D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27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934B1-345E-4875-BCED-58AC71E0DDE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091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934B1-345E-4875-BCED-58AC71E0DDE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691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934B1-345E-4875-BCED-58AC71E0DDE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816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934B1-345E-4875-BCED-58AC71E0DDE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260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934B1-345E-4875-BCED-58AC71E0DDE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958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934B1-345E-4875-BCED-58AC71E0DDE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51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934B1-345E-4875-BCED-58AC71E0DDE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3114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934B1-345E-4875-BCED-58AC71E0DDE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707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934B1-345E-4875-BCED-58AC71E0DDE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179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934B1-345E-4875-BCED-58AC71E0DDE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9537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934B1-345E-4875-BCED-58AC71E0DDE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5945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934B1-345E-4875-BCED-58AC71E0DDE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464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934B1-345E-4875-BCED-58AC71E0DDE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5366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934B1-345E-4875-BCED-58AC71E0DDE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5401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934B1-345E-4875-BCED-58AC71E0DDE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7500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934B1-345E-4875-BCED-58AC71E0DDE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768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934B1-345E-4875-BCED-58AC71E0DDE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8920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934B1-345E-4875-BCED-58AC71E0DDE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323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934B1-345E-4875-BCED-58AC71E0DDE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9460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934B1-345E-4875-BCED-58AC71E0DDE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2451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934B1-345E-4875-BCED-58AC71E0DDE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9809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934B1-345E-4875-BCED-58AC71E0DDE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0981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934B1-345E-4875-BCED-58AC71E0DDE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7744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934B1-345E-4875-BCED-58AC71E0DDE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4523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934B1-345E-4875-BCED-58AC71E0DDE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932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934B1-345E-4875-BCED-58AC71E0DDE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1405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934B1-345E-4875-BCED-58AC71E0DDE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0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3D609-15E3-4A1C-9F14-0817182A6A94}" type="datetime1">
              <a:rPr lang="en-US" smtClean="0"/>
              <a:t>9/6/2021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PRPC Confidential                        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7E834-A61D-4925-91BF-F462681A5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173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6AD5B-4A9D-4CE5-9986-6204A43A4AA5}" type="datetime1">
              <a:rPr lang="en-US" smtClean="0"/>
              <a:t>9/6/2021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PRPC Confidential                        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7E834-A61D-4925-91BF-F462681A5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98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8DBC2-79AC-4DA6-8EEB-8DED11545A9F}" type="datetime1">
              <a:rPr lang="en-US" smtClean="0"/>
              <a:t>9/6/2021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PRPC Confidential                        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7E834-A61D-4925-91BF-F462681A5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698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C177-D342-48BE-945A-36B6B9F07054}" type="datetime1">
              <a:rPr lang="en-US" smtClean="0"/>
              <a:t>9/6/2021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PRPC Confidential                        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7E834-A61D-4925-91BF-F462681A5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27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2F467-4C58-44A2-92F9-44754E81D5C7}" type="datetime1">
              <a:rPr lang="en-US" smtClean="0"/>
              <a:t>9/6/2021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PRPC Confidential                        1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7E834-A61D-4925-91BF-F462681A5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31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251D2-039C-4C2E-8375-029935A49348}" type="datetime1">
              <a:rPr lang="en-US" smtClean="0"/>
              <a:t>9/6/2021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PRPC Confidential                        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7E834-A61D-4925-91BF-F462681A5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64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406CD-3857-4A80-BCBF-6AB682D95FF5}" type="datetime1">
              <a:rPr lang="en-US" smtClean="0"/>
              <a:t>9/6/2021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PRPC Confidential                        1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7E834-A61D-4925-91BF-F462681A5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437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A7F34-6A96-42EC-880F-C341810A5473}" type="datetime1">
              <a:rPr lang="en-US" smtClean="0"/>
              <a:t>9/6/2021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PRPC Confidential                        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7E834-A61D-4925-91BF-F462681A5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943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A950F-16B2-4DF4-9C88-F97FA6303DAF}" type="datetime1">
              <a:rPr lang="en-US" smtClean="0"/>
              <a:t>9/6/2021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PRPC Confidential                        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7E834-A61D-4925-91BF-F462681A5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182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4433-DD31-4238-98AC-9E2DC6A7E946}" type="datetime1">
              <a:rPr lang="en-US" smtClean="0"/>
              <a:t>9/6/2021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PRPC Confidential                        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7E834-A61D-4925-91BF-F462681A5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662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7B349-F314-42CA-B64D-C5F325048686}" type="datetime1">
              <a:rPr lang="en-US" smtClean="0"/>
              <a:t>9/6/2021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PRPC Confidential                        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7E834-A61D-4925-91BF-F462681A5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943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9B854A-DB77-42F3-84CC-59B8DEB08E57}" type="datetime1">
              <a:rPr lang="en-US" smtClean="0"/>
              <a:t>9/6/2021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PRPC Confidential                        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7E834-A61D-4925-91BF-F462681A5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417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92420" y="135848"/>
            <a:ext cx="4114800" cy="365125"/>
          </a:xfrm>
        </p:spPr>
        <p:txBody>
          <a:bodyPr/>
          <a:lstStyle/>
          <a:p>
            <a:r>
              <a:rPr lang="en-US" dirty="0" smtClean="0"/>
              <a:t>PRPC Confidential                        1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50761" y="540913"/>
            <a:ext cx="11204619" cy="5962918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4000" b="1" dirty="0" smtClean="0">
                <a:latin typeface="Calibri Light" panose="020F0302020204030204" pitchFamily="34" charset="0"/>
              </a:rPr>
              <a:t>			</a:t>
            </a:r>
          </a:p>
          <a:p>
            <a:endParaRPr lang="en-IN" sz="4000" b="1" dirty="0">
              <a:latin typeface="Calibri Light" panose="020F0302020204030204" pitchFamily="34" charset="0"/>
            </a:endParaRPr>
          </a:p>
          <a:p>
            <a:r>
              <a:rPr lang="en-IN" sz="4000" b="1" dirty="0" smtClean="0">
                <a:latin typeface="Calibri Light" panose="020F0302020204030204" pitchFamily="34" charset="0"/>
              </a:rPr>
              <a:t>			</a:t>
            </a:r>
            <a:r>
              <a:rPr lang="en-IN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 Light" panose="020F0302020204030204" pitchFamily="34" charset="0"/>
              </a:rPr>
              <a:t>Introduction to </a:t>
            </a:r>
            <a:r>
              <a:rPr lang="en-IN" sz="4000" b="1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 Light" panose="020F0302020204030204" pitchFamily="34" charset="0"/>
              </a:rPr>
              <a:t>Pega</a:t>
            </a:r>
            <a:endParaRPr lang="en-IN" sz="4000" b="1" dirty="0" smtClean="0"/>
          </a:p>
          <a:p>
            <a:endParaRPr lang="en-IN" sz="4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IN" sz="4000" b="1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							</a:t>
            </a:r>
          </a:p>
          <a:p>
            <a:endParaRPr lang="en-IN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IN" b="1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IN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							</a:t>
            </a:r>
            <a:r>
              <a:rPr lang="en-IN" sz="1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PRPC</a:t>
            </a:r>
          </a:p>
          <a:p>
            <a:r>
              <a:rPr lang="en-IN" sz="1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								</a:t>
            </a:r>
            <a:r>
              <a:rPr lang="en-IN" sz="1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Rajendra</a:t>
            </a:r>
            <a:r>
              <a:rPr lang="en-IN" sz="1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 </a:t>
            </a:r>
            <a:r>
              <a:rPr lang="en-IN" sz="1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Gaddam</a:t>
            </a:r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7E834-A61D-4925-91BF-F462681A5D2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451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92420" y="135848"/>
            <a:ext cx="4114800" cy="365125"/>
          </a:xfrm>
        </p:spPr>
        <p:txBody>
          <a:bodyPr/>
          <a:lstStyle/>
          <a:p>
            <a:r>
              <a:rPr lang="en-US" dirty="0" smtClean="0"/>
              <a:t>PRPC Confidential                        4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50761" y="540913"/>
            <a:ext cx="11204619" cy="5962918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r>
              <a:rPr lang="en-IN" sz="2200" b="1" dirty="0" smtClean="0">
                <a:latin typeface="Calibri" panose="020F0502020204030204" pitchFamily="34" charset="0"/>
              </a:rPr>
              <a:t>Introduction</a:t>
            </a: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</a:endParaRPr>
          </a:p>
          <a:p>
            <a:pPr algn="just">
              <a:lnSpc>
                <a:spcPct val="200000"/>
              </a:lnSpc>
            </a:pPr>
            <a:endParaRPr lang="en-US" dirty="0" smtClean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0545" y="1345474"/>
            <a:ext cx="7143750" cy="433686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3019" y="2272937"/>
            <a:ext cx="29652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err="1"/>
              <a:t>Pega</a:t>
            </a:r>
            <a:r>
              <a:rPr lang="en-US" dirty="0"/>
              <a:t> Rules Process </a:t>
            </a:r>
            <a:r>
              <a:rPr lang="en-US" dirty="0" smtClean="0"/>
              <a:t>Commander(PRPC)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 BPM </a:t>
            </a:r>
            <a:r>
              <a:rPr lang="en-US" dirty="0" smtClean="0"/>
              <a:t>Product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Built on </a:t>
            </a:r>
            <a:r>
              <a:rPr lang="en-US" dirty="0" smtClean="0"/>
              <a:t>Java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Product of </a:t>
            </a:r>
            <a:r>
              <a:rPr lang="en-US" dirty="0" err="1"/>
              <a:t>Pega</a:t>
            </a:r>
            <a:r>
              <a:rPr lang="en-US" dirty="0"/>
              <a:t> Systems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299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92420" y="135848"/>
            <a:ext cx="4114800" cy="365125"/>
          </a:xfrm>
        </p:spPr>
        <p:txBody>
          <a:bodyPr/>
          <a:lstStyle/>
          <a:p>
            <a:r>
              <a:rPr lang="en-US" dirty="0" smtClean="0"/>
              <a:t>PRPC Confidential                        4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50761" y="540913"/>
            <a:ext cx="11204619" cy="5962918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r>
              <a:rPr lang="en-IN" sz="2200" b="1" dirty="0" smtClean="0">
                <a:latin typeface="Calibri" panose="020F0502020204030204" pitchFamily="34" charset="0"/>
              </a:rPr>
              <a:t>What is business process??</a:t>
            </a: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</a:endParaRPr>
          </a:p>
          <a:p>
            <a:pPr algn="just">
              <a:lnSpc>
                <a:spcPct val="200000"/>
              </a:lnSpc>
            </a:pPr>
            <a:endParaRPr lang="en-US" dirty="0" smtClean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953019" y="2272937"/>
            <a:ext cx="3762672" cy="374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dirty="0"/>
              <a:t>A collection of related structured activities or tasks.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 algn="just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dirty="0"/>
              <a:t> Logic needed to perform the tasks.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Examples:</a:t>
            </a:r>
          </a:p>
          <a:p>
            <a:pPr marL="742950" lvl="1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Granting leave to Employees</a:t>
            </a:r>
          </a:p>
          <a:p>
            <a:pPr marL="742950" lvl="1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Paying salaries to </a:t>
            </a:r>
            <a:r>
              <a:rPr lang="en-US" dirty="0" smtClean="0"/>
              <a:t>Employees</a:t>
            </a:r>
            <a:endParaRPr lang="en-US" dirty="0"/>
          </a:p>
          <a:p>
            <a:pPr marL="742950" lvl="1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Recruiting resources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Content Placehold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572" y="1279234"/>
            <a:ext cx="6451268" cy="4486275"/>
          </a:xfrm>
          <a:prstGeom prst="rect">
            <a:avLst/>
          </a:prstGeom>
          <a:effectLst>
            <a:glow rad="431800">
              <a:srgbClr val="47B9BC">
                <a:alpha val="40000"/>
              </a:srgbClr>
            </a:glo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017170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92420" y="135848"/>
            <a:ext cx="4114800" cy="365125"/>
          </a:xfrm>
        </p:spPr>
        <p:txBody>
          <a:bodyPr/>
          <a:lstStyle/>
          <a:p>
            <a:r>
              <a:rPr lang="en-US" dirty="0" smtClean="0"/>
              <a:t>PRPC Confidential                        4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50761" y="540913"/>
            <a:ext cx="11204619" cy="5962918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r>
              <a:rPr lang="en-US" sz="2200" b="1" dirty="0">
                <a:latin typeface="Calibri" panose="020F0502020204030204" pitchFamily="34" charset="0"/>
              </a:rPr>
              <a:t>Business Process Management(BPM)</a:t>
            </a:r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</a:endParaRPr>
          </a:p>
          <a:p>
            <a:pPr algn="just">
              <a:lnSpc>
                <a:spcPct val="200000"/>
              </a:lnSpc>
            </a:pPr>
            <a:endParaRPr lang="en-US" dirty="0" smtClean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11638" y="1279234"/>
            <a:ext cx="4925267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It is </a:t>
            </a:r>
            <a:r>
              <a:rPr lang="en-US" b="1" dirty="0"/>
              <a:t>methodology</a:t>
            </a:r>
            <a:r>
              <a:rPr lang="en-US" dirty="0"/>
              <a:t> wherein we </a:t>
            </a:r>
            <a:r>
              <a:rPr lang="en-US" b="1" dirty="0"/>
              <a:t>manage</a:t>
            </a:r>
            <a:r>
              <a:rPr lang="en-US" dirty="0"/>
              <a:t> </a:t>
            </a:r>
            <a:r>
              <a:rPr lang="en-US" b="1" dirty="0"/>
              <a:t>various processes </a:t>
            </a:r>
            <a:r>
              <a:rPr lang="en-US" dirty="0"/>
              <a:t>&amp; work flows, that requires an organization to complete its </a:t>
            </a:r>
            <a:r>
              <a:rPr lang="en-US" b="1" dirty="0"/>
              <a:t>business process work model.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BPMs are typically used to automate the business processes.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 smtClean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The key roles in BPM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Technical IT team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Business Team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Content Placehold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781" y="1279234"/>
            <a:ext cx="5624129" cy="4486275"/>
          </a:xfrm>
          <a:prstGeom prst="rect">
            <a:avLst/>
          </a:prstGeom>
          <a:effectLst>
            <a:glow rad="508000">
              <a:schemeClr val="accent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767081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92420" y="135848"/>
            <a:ext cx="4114800" cy="365125"/>
          </a:xfrm>
        </p:spPr>
        <p:txBody>
          <a:bodyPr/>
          <a:lstStyle/>
          <a:p>
            <a:r>
              <a:rPr lang="en-US" dirty="0" smtClean="0"/>
              <a:t>PRPC Confidential                        4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50761" y="540913"/>
            <a:ext cx="11204619" cy="5962918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r>
              <a:rPr lang="en-US" sz="2200" b="1" dirty="0">
                <a:latin typeface="Calibri" panose="020F0502020204030204" pitchFamily="34" charset="0"/>
              </a:rPr>
              <a:t>Business Process </a:t>
            </a:r>
            <a:r>
              <a:rPr lang="en-US" sz="2200" b="1" dirty="0" smtClean="0">
                <a:latin typeface="Calibri" panose="020F0502020204030204" pitchFamily="34" charset="0"/>
              </a:rPr>
              <a:t>Management continued…</a:t>
            </a:r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</a:endParaRPr>
          </a:p>
          <a:p>
            <a:pPr algn="just">
              <a:lnSpc>
                <a:spcPct val="200000"/>
              </a:lnSpc>
            </a:pPr>
            <a:endParaRPr lang="en-US" dirty="0" smtClean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11638" y="1814812"/>
            <a:ext cx="4925267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The </a:t>
            </a:r>
            <a:r>
              <a:rPr lang="en-US" b="1" dirty="0"/>
              <a:t>advantage</a:t>
            </a:r>
            <a:r>
              <a:rPr lang="en-US" dirty="0"/>
              <a:t> of </a:t>
            </a:r>
            <a:r>
              <a:rPr lang="en-US" b="1" dirty="0"/>
              <a:t>BPM</a:t>
            </a:r>
            <a:r>
              <a:rPr lang="en-US" dirty="0"/>
              <a:t> is </a:t>
            </a:r>
            <a:r>
              <a:rPr lang="en-US" b="1" dirty="0"/>
              <a:t>both</a:t>
            </a:r>
            <a:r>
              <a:rPr lang="en-US" dirty="0"/>
              <a:t> </a:t>
            </a:r>
            <a:r>
              <a:rPr lang="en-US" b="1" dirty="0"/>
              <a:t>business</a:t>
            </a:r>
            <a:r>
              <a:rPr lang="en-US" dirty="0"/>
              <a:t> &amp; </a:t>
            </a:r>
            <a:r>
              <a:rPr lang="en-US" b="1" dirty="0"/>
              <a:t>IT teams </a:t>
            </a:r>
            <a:r>
              <a:rPr lang="en-US" dirty="0"/>
              <a:t>have to work in </a:t>
            </a:r>
            <a:r>
              <a:rPr lang="en-US" b="1" dirty="0"/>
              <a:t>collaboration</a:t>
            </a:r>
            <a:r>
              <a:rPr lang="en-US" dirty="0"/>
              <a:t> &amp; end result is </a:t>
            </a:r>
            <a:r>
              <a:rPr lang="en-US" b="1" dirty="0"/>
              <a:t>achieving</a:t>
            </a:r>
            <a:r>
              <a:rPr lang="en-US" dirty="0"/>
              <a:t> the </a:t>
            </a:r>
            <a:r>
              <a:rPr lang="en-US" b="1" dirty="0"/>
              <a:t>business objective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BPM is not about creating fancy UI or giving additional </a:t>
            </a:r>
            <a:r>
              <a:rPr lang="en-US" b="1" dirty="0" smtClean="0"/>
              <a:t>features</a:t>
            </a:r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smtClean="0"/>
              <a:t>BPM is about building the solution for requirement, which is executable software</a:t>
            </a:r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Content Placehold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781" y="1279234"/>
            <a:ext cx="5624129" cy="4486275"/>
          </a:xfrm>
          <a:prstGeom prst="rect">
            <a:avLst/>
          </a:prstGeom>
          <a:effectLst>
            <a:glow rad="508000">
              <a:schemeClr val="accent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256358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92420" y="135848"/>
            <a:ext cx="4114800" cy="365125"/>
          </a:xfrm>
        </p:spPr>
        <p:txBody>
          <a:bodyPr/>
          <a:lstStyle/>
          <a:p>
            <a:r>
              <a:rPr lang="en-US" dirty="0" smtClean="0"/>
              <a:t>PRPC Confidential                        4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50761" y="540913"/>
            <a:ext cx="11204619" cy="5962918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r>
              <a:rPr lang="en-US" sz="2200" b="1" dirty="0" smtClean="0">
                <a:latin typeface="Calibri" panose="020F0502020204030204" pitchFamily="34" charset="0"/>
              </a:rPr>
              <a:t>BPM Life Cycle</a:t>
            </a:r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</a:endParaRPr>
          </a:p>
          <a:p>
            <a:pPr algn="just">
              <a:lnSpc>
                <a:spcPct val="200000"/>
              </a:lnSpc>
            </a:pPr>
            <a:endParaRPr lang="en-US" dirty="0" smtClean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970175" y="1584007"/>
            <a:ext cx="465269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smtClean="0"/>
              <a:t>Analysis &amp; Designing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smtClean="0"/>
              <a:t>Modelling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Execution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smtClean="0"/>
              <a:t>Monitoring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Optimization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 smtClean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043" y="1584007"/>
            <a:ext cx="3886200" cy="3324225"/>
          </a:xfrm>
          <a:prstGeom prst="rect">
            <a:avLst/>
          </a:prstGeom>
          <a:effectLst>
            <a:glow rad="508000">
              <a:schemeClr val="accent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830190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92420" y="135848"/>
            <a:ext cx="4114800" cy="365125"/>
          </a:xfrm>
        </p:spPr>
        <p:txBody>
          <a:bodyPr/>
          <a:lstStyle/>
          <a:p>
            <a:r>
              <a:rPr lang="en-US" dirty="0" smtClean="0"/>
              <a:t>PRPC Confidential                        4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50761" y="540913"/>
            <a:ext cx="11204619" cy="5962918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200" b="1" dirty="0">
              <a:latin typeface="Calibri" panose="020F0502020204030204" pitchFamily="34" charset="0"/>
            </a:endParaRPr>
          </a:p>
          <a:p>
            <a:r>
              <a:rPr lang="en-US" sz="2200" b="1" dirty="0" smtClean="0">
                <a:latin typeface="Calibri" panose="020F0502020204030204" pitchFamily="34" charset="0"/>
              </a:rPr>
              <a:t>Analysis &amp; Designing</a:t>
            </a:r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r>
              <a:rPr lang="en-IN" sz="2200" b="1" dirty="0" smtClean="0">
                <a:latin typeface="Calibri" panose="020F0502020204030204" pitchFamily="34" charset="0"/>
              </a:rPr>
              <a:t>Analysis</a:t>
            </a: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r>
              <a:rPr lang="en-IN" sz="2200" b="1" dirty="0" smtClean="0">
                <a:latin typeface="Calibri" panose="020F0502020204030204" pitchFamily="34" charset="0"/>
              </a:rPr>
              <a:t>Designing</a:t>
            </a: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</a:endParaRPr>
          </a:p>
          <a:p>
            <a:pPr algn="just">
              <a:lnSpc>
                <a:spcPct val="200000"/>
              </a:lnSpc>
            </a:pPr>
            <a:endParaRPr lang="en-US" dirty="0" smtClean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926132" y="1434871"/>
            <a:ext cx="554085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Done by group of business users &amp; business architects</a:t>
            </a:r>
            <a:r>
              <a:rPr lang="en-US" dirty="0" smtClean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Dive into business </a:t>
            </a:r>
            <a:r>
              <a:rPr lang="en-US" dirty="0" smtClean="0"/>
              <a:t>requirements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what &amp; why &amp; where need to be </a:t>
            </a:r>
            <a:r>
              <a:rPr lang="en-US" dirty="0" smtClean="0"/>
              <a:t>done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926132" y="3048649"/>
            <a:ext cx="56895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Done by </a:t>
            </a:r>
            <a:r>
              <a:rPr lang="en-US" dirty="0" smtClean="0"/>
              <a:t>business architects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Its </a:t>
            </a:r>
            <a:r>
              <a:rPr lang="en-US" dirty="0"/>
              <a:t>high level model without any execution construct &amp; which is missing </a:t>
            </a:r>
            <a:r>
              <a:rPr lang="en-US" dirty="0" smtClean="0"/>
              <a:t>implementation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Need to define high level business process model, which contains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dirty="0"/>
              <a:t>Process involved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dirty="0"/>
              <a:t>Wireframes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dirty="0" smtClean="0"/>
              <a:t>Integration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Business team designs should be reusable &amp; convert in to executable construct.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984" y="1716258"/>
            <a:ext cx="4188395" cy="3565177"/>
          </a:xfrm>
          <a:prstGeom prst="rect">
            <a:avLst/>
          </a:prstGeom>
          <a:effectLst>
            <a:glow rad="508000">
              <a:schemeClr val="accent1">
                <a:alpha val="40000"/>
              </a:schemeClr>
            </a:glow>
          </a:effectLst>
        </p:spPr>
      </p:pic>
      <p:sp>
        <p:nvSpPr>
          <p:cNvPr id="10" name="Rounded Rectangle 9"/>
          <p:cNvSpPr/>
          <p:nvPr/>
        </p:nvSpPr>
        <p:spPr>
          <a:xfrm>
            <a:off x="8942356" y="1782556"/>
            <a:ext cx="2713023" cy="651155"/>
          </a:xfrm>
          <a:prstGeom prst="roundRect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457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92420" y="135848"/>
            <a:ext cx="4114800" cy="365125"/>
          </a:xfrm>
        </p:spPr>
        <p:txBody>
          <a:bodyPr/>
          <a:lstStyle/>
          <a:p>
            <a:r>
              <a:rPr lang="en-US" dirty="0" smtClean="0"/>
              <a:t>PRPC Confidential                        4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50761" y="540913"/>
            <a:ext cx="11204619" cy="5962918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r>
              <a:rPr lang="en-US" sz="2200" b="1" dirty="0" smtClean="0">
                <a:latin typeface="Calibri" panose="020F0502020204030204" pitchFamily="34" charset="0"/>
              </a:rPr>
              <a:t>Modelling</a:t>
            </a:r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</a:endParaRPr>
          </a:p>
          <a:p>
            <a:pPr algn="just">
              <a:lnSpc>
                <a:spcPct val="200000"/>
              </a:lnSpc>
            </a:pPr>
            <a:endParaRPr lang="en-US" dirty="0" smtClean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99001" y="1517243"/>
            <a:ext cx="9002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high level business process model &amp; wireframes designed by business architect are </a:t>
            </a:r>
            <a:r>
              <a:rPr lang="en-US" b="1" dirty="0"/>
              <a:t>converted into executable construct by IT team </a:t>
            </a:r>
            <a:r>
              <a:rPr lang="en-US" dirty="0"/>
              <a:t>by </a:t>
            </a:r>
            <a:r>
              <a:rPr lang="en-US" dirty="0" smtClean="0"/>
              <a:t>defining..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477504" y="2506709"/>
            <a:ext cx="31982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Data </a:t>
            </a:r>
            <a:r>
              <a:rPr lang="en-US" dirty="0" smtClean="0"/>
              <a:t>Elements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Executable Flow </a:t>
            </a:r>
            <a:r>
              <a:rPr lang="en-US" dirty="0" smtClean="0"/>
              <a:t>diagrams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UI </a:t>
            </a:r>
            <a:r>
              <a:rPr lang="en-US" dirty="0" smtClean="0"/>
              <a:t>forms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655" y="4973554"/>
            <a:ext cx="4349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Build an application to run in real-time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611" y="2163574"/>
            <a:ext cx="5247593" cy="3743325"/>
          </a:xfrm>
          <a:prstGeom prst="rect">
            <a:avLst/>
          </a:prstGeom>
          <a:effectLst>
            <a:glow rad="508000">
              <a:schemeClr val="accent1">
                <a:alpha val="40000"/>
              </a:schemeClr>
            </a:glow>
          </a:effectLst>
        </p:spPr>
      </p:pic>
      <p:sp>
        <p:nvSpPr>
          <p:cNvPr id="10" name="Rounded Rectangle 9"/>
          <p:cNvSpPr/>
          <p:nvPr/>
        </p:nvSpPr>
        <p:spPr>
          <a:xfrm>
            <a:off x="7992420" y="2964213"/>
            <a:ext cx="3353479" cy="707456"/>
          </a:xfrm>
          <a:prstGeom prst="roundRect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7952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92420" y="135848"/>
            <a:ext cx="4114800" cy="365125"/>
          </a:xfrm>
        </p:spPr>
        <p:txBody>
          <a:bodyPr/>
          <a:lstStyle/>
          <a:p>
            <a:r>
              <a:rPr lang="en-US" dirty="0" smtClean="0"/>
              <a:t>PRPC Confidential                        4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50761" y="540913"/>
            <a:ext cx="11204619" cy="5962918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r>
              <a:rPr lang="en-US" sz="2200" b="1" dirty="0" smtClean="0">
                <a:latin typeface="Calibri" panose="020F0502020204030204" pitchFamily="34" charset="0"/>
              </a:rPr>
              <a:t>Execution</a:t>
            </a:r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</a:endParaRPr>
          </a:p>
          <a:p>
            <a:pPr algn="just">
              <a:lnSpc>
                <a:spcPct val="200000"/>
              </a:lnSpc>
            </a:pPr>
            <a:endParaRPr lang="en-US" dirty="0" smtClean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929630" y="2118172"/>
            <a:ext cx="53274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Testing an application to check how the application works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IT &amp; BA &amp; Testing teams comes into picture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Make sure that process is error-free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End-to-end result is delivered??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109" y="1400671"/>
            <a:ext cx="5247593" cy="3743325"/>
          </a:xfrm>
          <a:prstGeom prst="rect">
            <a:avLst/>
          </a:prstGeom>
          <a:effectLst>
            <a:glow rad="508000">
              <a:schemeClr val="accent1">
                <a:alpha val="40000"/>
              </a:schemeClr>
            </a:glow>
          </a:effectLst>
        </p:spPr>
      </p:pic>
      <p:sp>
        <p:nvSpPr>
          <p:cNvPr id="5" name="Rounded Rectangle 4"/>
          <p:cNvSpPr/>
          <p:nvPr/>
        </p:nvSpPr>
        <p:spPr>
          <a:xfrm>
            <a:off x="8151223" y="2861321"/>
            <a:ext cx="3353479" cy="822023"/>
          </a:xfrm>
          <a:prstGeom prst="roundRect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7910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92420" y="135848"/>
            <a:ext cx="4114800" cy="365125"/>
          </a:xfrm>
        </p:spPr>
        <p:txBody>
          <a:bodyPr/>
          <a:lstStyle/>
          <a:p>
            <a:r>
              <a:rPr lang="en-US" dirty="0" smtClean="0"/>
              <a:t>PRPC Confidential                        4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50761" y="540913"/>
            <a:ext cx="11204619" cy="5962918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r>
              <a:rPr lang="en-US" sz="2200" b="1" dirty="0" smtClean="0">
                <a:latin typeface="Calibri" panose="020F0502020204030204" pitchFamily="34" charset="0"/>
              </a:rPr>
              <a:t>Monitoring</a:t>
            </a:r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</a:endParaRPr>
          </a:p>
          <a:p>
            <a:pPr algn="just">
              <a:lnSpc>
                <a:spcPct val="200000"/>
              </a:lnSpc>
            </a:pPr>
            <a:endParaRPr lang="en-US" dirty="0" smtClean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88613" y="1582595"/>
            <a:ext cx="532747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After the application is deployed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Monitor the application to </a:t>
            </a:r>
            <a:r>
              <a:rPr lang="en-US" dirty="0" smtClean="0"/>
              <a:t>check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Performance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Is UI designed as needed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Is implemented as per requirement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Is it working as expected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Happens periodically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Business users identifies changes required to do improve </a:t>
            </a:r>
            <a:r>
              <a:rPr lang="en-US" dirty="0" smtClean="0"/>
              <a:t>performance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109" y="1400671"/>
            <a:ext cx="5247593" cy="3743325"/>
          </a:xfrm>
          <a:prstGeom prst="rect">
            <a:avLst/>
          </a:prstGeom>
          <a:effectLst>
            <a:glow rad="508000">
              <a:schemeClr val="accent1">
                <a:alpha val="40000"/>
              </a:schemeClr>
            </a:glow>
          </a:effectLst>
        </p:spPr>
      </p:pic>
      <p:sp>
        <p:nvSpPr>
          <p:cNvPr id="9" name="Rounded Rectangle 8"/>
          <p:cNvSpPr/>
          <p:nvPr/>
        </p:nvSpPr>
        <p:spPr>
          <a:xfrm>
            <a:off x="8151223" y="3706253"/>
            <a:ext cx="3353479" cy="668799"/>
          </a:xfrm>
          <a:prstGeom prst="roundRect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2148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92420" y="135848"/>
            <a:ext cx="4114800" cy="365125"/>
          </a:xfrm>
        </p:spPr>
        <p:txBody>
          <a:bodyPr/>
          <a:lstStyle/>
          <a:p>
            <a:r>
              <a:rPr lang="en-US" dirty="0" smtClean="0"/>
              <a:t>PRPC Confidential                        4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50761" y="540913"/>
            <a:ext cx="11204619" cy="5962918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r>
              <a:rPr lang="en-US" sz="2200" b="1" dirty="0" smtClean="0">
                <a:latin typeface="Calibri" panose="020F0502020204030204" pitchFamily="34" charset="0"/>
              </a:rPr>
              <a:t>Optimization</a:t>
            </a:r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</a:endParaRPr>
          </a:p>
          <a:p>
            <a:pPr algn="just">
              <a:lnSpc>
                <a:spcPct val="200000"/>
              </a:lnSpc>
            </a:pPr>
            <a:endParaRPr lang="en-US" dirty="0" smtClean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88613" y="1753380"/>
            <a:ext cx="532747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Do the changes as per the business users requirement by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 smtClean="0"/>
              <a:t>Analyze the gaps encountered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 smtClean="0"/>
              <a:t>Checking the feasibility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It should not affect the actual process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Business users identifies changes required to do improve performance or in terms of reusability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109" y="1400671"/>
            <a:ext cx="5247593" cy="3743325"/>
          </a:xfrm>
          <a:prstGeom prst="rect">
            <a:avLst/>
          </a:prstGeom>
          <a:effectLst>
            <a:glow rad="508000">
              <a:schemeClr val="accent1">
                <a:alpha val="40000"/>
              </a:schemeClr>
            </a:glow>
          </a:effectLst>
        </p:spPr>
      </p:pic>
      <p:sp>
        <p:nvSpPr>
          <p:cNvPr id="9" name="Rounded Rectangle 8"/>
          <p:cNvSpPr/>
          <p:nvPr/>
        </p:nvSpPr>
        <p:spPr>
          <a:xfrm>
            <a:off x="8151223" y="4430649"/>
            <a:ext cx="3353479" cy="668799"/>
          </a:xfrm>
          <a:prstGeom prst="roundRect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8100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92420" y="135848"/>
            <a:ext cx="4114800" cy="365125"/>
          </a:xfrm>
        </p:spPr>
        <p:txBody>
          <a:bodyPr/>
          <a:lstStyle/>
          <a:p>
            <a:r>
              <a:rPr lang="en-US" dirty="0" smtClean="0"/>
              <a:t>PRPC Confidential                        4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50761" y="540913"/>
            <a:ext cx="11204619" cy="5962918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pPr lvl="1"/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</a:endParaRPr>
          </a:p>
          <a:p>
            <a:pPr algn="just">
              <a:lnSpc>
                <a:spcPct val="200000"/>
              </a:lnSpc>
            </a:pPr>
            <a:endParaRPr lang="en-US" dirty="0" smtClean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257676" y="1588644"/>
            <a:ext cx="6361612" cy="353943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>
                <a:latin typeface="Calibri" panose="020F0502020204030204" pitchFamily="34" charset="0"/>
              </a:rPr>
              <a:t>BPM Key Factors</a:t>
            </a:r>
          </a:p>
          <a:p>
            <a:pPr algn="just"/>
            <a:endParaRPr lang="en-US" sz="2200" b="1" dirty="0">
              <a:latin typeface="Calibri" panose="020F0502020204030204" pitchFamily="34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dirty="0"/>
              <a:t>Minimal coding requirements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endParaRPr lang="en-US" dirty="0"/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dirty="0"/>
              <a:t>Pre-Configured Code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endParaRPr lang="en-US" dirty="0"/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dirty="0"/>
              <a:t>Less time to build applications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endParaRPr lang="en-US" dirty="0"/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dirty="0"/>
              <a:t>Minimal team size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endParaRPr lang="en-US" dirty="0"/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dirty="0"/>
              <a:t>More Profitability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9547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92420" y="135848"/>
            <a:ext cx="4114800" cy="365125"/>
          </a:xfrm>
        </p:spPr>
        <p:txBody>
          <a:bodyPr/>
          <a:lstStyle/>
          <a:p>
            <a:r>
              <a:rPr lang="en-US" dirty="0" smtClean="0"/>
              <a:t>PRPC Confidential                        4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50761" y="540913"/>
            <a:ext cx="11204619" cy="5962918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pPr lvl="1"/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</a:endParaRPr>
          </a:p>
          <a:p>
            <a:pPr algn="just">
              <a:lnSpc>
                <a:spcPct val="200000"/>
              </a:lnSpc>
            </a:pPr>
            <a:endParaRPr lang="en-US" dirty="0" smtClean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101737" y="1658983"/>
            <a:ext cx="3749040" cy="3373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>
                <a:latin typeface="Calibri" panose="020F0502020204030204" pitchFamily="34" charset="0"/>
              </a:rPr>
              <a:t>BPM Competitors</a:t>
            </a:r>
          </a:p>
          <a:p>
            <a:pPr algn="just"/>
            <a:endParaRPr lang="en-US" sz="2200" b="1" dirty="0">
              <a:latin typeface="Calibri" panose="020F0502020204030204" pitchFamily="34" charset="0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dirty="0"/>
              <a:t>Oracle BPM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dirty="0" err="1"/>
              <a:t>Tibco</a:t>
            </a:r>
            <a:endParaRPr lang="en-US" dirty="0"/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dirty="0" err="1"/>
              <a:t>Cordys</a:t>
            </a:r>
            <a:endParaRPr lang="en-US" dirty="0"/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dirty="0"/>
              <a:t>Appian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dirty="0"/>
              <a:t>Lombardi</a:t>
            </a: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dirty="0" err="1" smtClean="0"/>
              <a:t>Savvion</a:t>
            </a:r>
            <a:endParaRPr lang="en-US" dirty="0"/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dirty="0" err="1"/>
              <a:t>Metastorm</a:t>
            </a:r>
            <a:r>
              <a:rPr lang="en-US" dirty="0"/>
              <a:t> </a:t>
            </a:r>
            <a:r>
              <a:rPr lang="en-US" dirty="0" smtClean="0"/>
              <a:t>:</a:t>
            </a:r>
            <a:r>
              <a:rPr lang="en-US" dirty="0" err="1" smtClean="0"/>
              <a:t>ework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577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92420" y="135848"/>
            <a:ext cx="4114800" cy="365125"/>
          </a:xfrm>
        </p:spPr>
        <p:txBody>
          <a:bodyPr/>
          <a:lstStyle/>
          <a:p>
            <a:r>
              <a:rPr lang="en-US" dirty="0" smtClean="0"/>
              <a:t>PRPC Confidential                        4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50761" y="540913"/>
            <a:ext cx="11204619" cy="5962918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r>
              <a:rPr lang="en-US" sz="2200" b="1" dirty="0" smtClean="0">
                <a:latin typeface="Calibri" panose="020F0502020204030204" pitchFamily="34" charset="0"/>
              </a:rPr>
              <a:t>Why </a:t>
            </a:r>
            <a:r>
              <a:rPr lang="en-US" sz="2200" b="1" dirty="0">
                <a:latin typeface="Calibri" panose="020F0502020204030204" pitchFamily="34" charset="0"/>
              </a:rPr>
              <a:t>Only </a:t>
            </a:r>
            <a:r>
              <a:rPr lang="en-US" sz="2200" b="1" dirty="0" err="1">
                <a:latin typeface="Calibri" panose="020F0502020204030204" pitchFamily="34" charset="0"/>
              </a:rPr>
              <a:t>Pega</a:t>
            </a:r>
            <a:r>
              <a:rPr lang="en-US" sz="2200" b="1" dirty="0">
                <a:latin typeface="Calibri" panose="020F0502020204030204" pitchFamily="34" charset="0"/>
              </a:rPr>
              <a:t>??</a:t>
            </a: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pPr lvl="1"/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</a:endParaRPr>
          </a:p>
          <a:p>
            <a:pPr algn="just">
              <a:lnSpc>
                <a:spcPct val="200000"/>
              </a:lnSpc>
            </a:pPr>
            <a:endParaRPr lang="en-US" dirty="0" smtClean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87828" y="1332412"/>
            <a:ext cx="5212081" cy="486287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just"/>
            <a:endParaRPr lang="en-US" sz="2200" b="1" dirty="0">
              <a:latin typeface="Calibri" panose="020F0502020204030204" pitchFamily="34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dirty="0"/>
              <a:t>Minimal coding requirements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endParaRPr lang="en-US" dirty="0"/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dirty="0"/>
              <a:t>Built-in process and business rules &amp; </a:t>
            </a:r>
            <a:r>
              <a:rPr lang="en-US" dirty="0" smtClean="0"/>
              <a:t>functions</a:t>
            </a:r>
          </a:p>
          <a:p>
            <a:pPr lvl="1" algn="just"/>
            <a:endParaRPr lang="en-US" dirty="0"/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dirty="0"/>
              <a:t>Out-of-the-box tools for tracing and </a:t>
            </a:r>
            <a:r>
              <a:rPr lang="en-US" dirty="0" smtClean="0"/>
              <a:t>debugging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endParaRPr lang="en-US" dirty="0"/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dirty="0"/>
              <a:t>Object-oriented rules base, enabling reuse of </a:t>
            </a:r>
            <a:r>
              <a:rPr lang="en-US" dirty="0" smtClean="0"/>
              <a:t>rules</a:t>
            </a:r>
          </a:p>
          <a:p>
            <a:pPr lvl="1" algn="just"/>
            <a:endParaRPr lang="en-US" dirty="0"/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dirty="0"/>
              <a:t>Automation of database connections, Web Services integration </a:t>
            </a:r>
            <a:r>
              <a:rPr lang="en-US" dirty="0" smtClean="0"/>
              <a:t>capabilities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endParaRPr lang="en-US" dirty="0"/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dirty="0"/>
              <a:t>Ease of deployment; real-time changes to existing </a:t>
            </a:r>
            <a:r>
              <a:rPr lang="en-US" dirty="0" smtClean="0"/>
              <a:t>rules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936976" y="1332412"/>
            <a:ext cx="5212081" cy="486287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just"/>
            <a:endParaRPr lang="en-US" sz="2200" b="1" dirty="0">
              <a:latin typeface="Calibri" panose="020F0502020204030204" pitchFamily="34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dirty="0"/>
              <a:t>Build Once, Use it on multiple devices </a:t>
            </a:r>
            <a:endParaRPr lang="en-US" dirty="0" smtClean="0"/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endParaRPr lang="en-US" dirty="0"/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dirty="0"/>
              <a:t>Development is 5.5 times faster using </a:t>
            </a:r>
            <a:r>
              <a:rPr lang="en-US" dirty="0" err="1"/>
              <a:t>Pega</a:t>
            </a:r>
            <a:r>
              <a:rPr lang="en-US" dirty="0"/>
              <a:t> BPM than </a:t>
            </a:r>
            <a:r>
              <a:rPr lang="en-US" dirty="0" smtClean="0"/>
              <a:t>Java</a:t>
            </a:r>
          </a:p>
          <a:p>
            <a:pPr lvl="1" algn="just"/>
            <a:endParaRPr lang="en-US" dirty="0"/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dirty="0"/>
              <a:t>Making business changes using </a:t>
            </a:r>
            <a:r>
              <a:rPr lang="en-US" dirty="0" err="1"/>
              <a:t>Pega</a:t>
            </a:r>
            <a:r>
              <a:rPr lang="en-US" dirty="0"/>
              <a:t> BPM is 6.8 times faster than </a:t>
            </a:r>
            <a:r>
              <a:rPr lang="en-US" dirty="0" smtClean="0"/>
              <a:t>Java</a:t>
            </a:r>
          </a:p>
          <a:p>
            <a:pPr lvl="1" algn="just"/>
            <a:endParaRPr lang="en-US" dirty="0"/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dirty="0"/>
              <a:t>Integration activity using </a:t>
            </a:r>
            <a:r>
              <a:rPr lang="en-US" dirty="0" err="1"/>
              <a:t>Pega</a:t>
            </a:r>
            <a:r>
              <a:rPr lang="en-US" dirty="0"/>
              <a:t> BPM is 28 times faster than with </a:t>
            </a:r>
            <a:r>
              <a:rPr lang="en-US" dirty="0" smtClean="0"/>
              <a:t>Java</a:t>
            </a:r>
          </a:p>
          <a:p>
            <a:pPr lvl="1" algn="just"/>
            <a:endParaRPr lang="en-US" dirty="0"/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dirty="0"/>
              <a:t>Deployment using </a:t>
            </a:r>
            <a:r>
              <a:rPr lang="en-US" dirty="0" err="1"/>
              <a:t>Pega</a:t>
            </a:r>
            <a:r>
              <a:rPr lang="en-US" dirty="0"/>
              <a:t> BPM is 5 times faster than with </a:t>
            </a:r>
            <a:r>
              <a:rPr lang="en-US" dirty="0" smtClean="0"/>
              <a:t>Java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endParaRPr lang="en-US" dirty="0"/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dirty="0"/>
              <a:t>Support for most of the </a:t>
            </a:r>
            <a:r>
              <a:rPr lang="en-US" dirty="0" smtClean="0"/>
              <a:t>databases &amp; application servers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008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92420" y="135848"/>
            <a:ext cx="4114800" cy="365125"/>
          </a:xfrm>
        </p:spPr>
        <p:txBody>
          <a:bodyPr/>
          <a:lstStyle/>
          <a:p>
            <a:r>
              <a:rPr lang="en-US" dirty="0" smtClean="0"/>
              <a:t>PRPC Confidential                        4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50761" y="540913"/>
            <a:ext cx="11204619" cy="5962918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r>
              <a:rPr lang="en-US" sz="2200" b="1" dirty="0" smtClean="0">
                <a:latin typeface="Calibri" panose="020F0502020204030204" pitchFamily="34" charset="0"/>
              </a:rPr>
              <a:t> </a:t>
            </a:r>
            <a:r>
              <a:rPr lang="en-US" sz="2200" b="1" dirty="0" err="1" smtClean="0">
                <a:latin typeface="Calibri" panose="020F0502020204030204" pitchFamily="34" charset="0"/>
              </a:rPr>
              <a:t>Pega</a:t>
            </a:r>
            <a:r>
              <a:rPr lang="en-US" sz="2200" b="1" dirty="0" smtClean="0">
                <a:latin typeface="Calibri" panose="020F0502020204030204" pitchFamily="34" charset="0"/>
              </a:rPr>
              <a:t> Industry Presence</a:t>
            </a:r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pPr lvl="1"/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</a:endParaRPr>
          </a:p>
          <a:p>
            <a:pPr algn="just">
              <a:lnSpc>
                <a:spcPct val="200000"/>
              </a:lnSpc>
            </a:pPr>
            <a:endParaRPr lang="en-US" dirty="0" smtClean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63152" y="1388683"/>
            <a:ext cx="2855297" cy="45858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endParaRPr lang="en-US" sz="2200" b="1" dirty="0">
              <a:latin typeface="Calibri" panose="020F0502020204030204" pitchFamily="34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dirty="0" smtClean="0"/>
              <a:t>Banking</a:t>
            </a:r>
            <a:endParaRPr lang="en-US" dirty="0"/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endParaRPr lang="en-US" dirty="0" smtClean="0"/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dirty="0" smtClean="0"/>
              <a:t>Healthcare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endParaRPr lang="en-US" dirty="0"/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dirty="0" smtClean="0"/>
              <a:t>Insurance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endParaRPr lang="en-US" dirty="0"/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dirty="0" smtClean="0"/>
              <a:t>Credit Cards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endParaRPr lang="en-US" dirty="0"/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dirty="0" smtClean="0"/>
              <a:t>Manufacturing 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endParaRPr lang="en-US" dirty="0"/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dirty="0" smtClean="0"/>
              <a:t>Communication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endParaRPr lang="en-US" dirty="0"/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dirty="0" smtClean="0"/>
              <a:t>Government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endParaRPr lang="en-US" dirty="0"/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4977" y="1388683"/>
            <a:ext cx="8143875" cy="4533900"/>
          </a:xfrm>
          <a:prstGeom prst="rect">
            <a:avLst/>
          </a:prstGeom>
          <a:effectLst>
            <a:glow rad="508000">
              <a:schemeClr val="accent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572476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92420" y="135848"/>
            <a:ext cx="4114800" cy="365125"/>
          </a:xfrm>
        </p:spPr>
        <p:txBody>
          <a:bodyPr/>
          <a:lstStyle/>
          <a:p>
            <a:r>
              <a:rPr lang="en-US" dirty="0" smtClean="0"/>
              <a:t>PRPC Confidential                        4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50761" y="540913"/>
            <a:ext cx="11204619" cy="5962918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r>
              <a:rPr lang="en-US" sz="2200" b="1" dirty="0" smtClean="0">
                <a:latin typeface="Calibri" panose="020F0502020204030204" pitchFamily="34" charset="0"/>
              </a:rPr>
              <a:t> </a:t>
            </a:r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</a:endParaRPr>
          </a:p>
          <a:p>
            <a:pPr algn="just">
              <a:lnSpc>
                <a:spcPct val="200000"/>
              </a:lnSpc>
            </a:pPr>
            <a:endParaRPr lang="en-US" dirty="0" smtClean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265" y="675249"/>
            <a:ext cx="10536701" cy="5669279"/>
          </a:xfrm>
          <a:prstGeom prst="rect">
            <a:avLst/>
          </a:prstGeom>
          <a:effectLst>
            <a:glow rad="508000">
              <a:schemeClr val="accent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781136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92420" y="135848"/>
            <a:ext cx="4114800" cy="365125"/>
          </a:xfrm>
        </p:spPr>
        <p:txBody>
          <a:bodyPr/>
          <a:lstStyle/>
          <a:p>
            <a:r>
              <a:rPr lang="en-US" dirty="0" smtClean="0"/>
              <a:t>PRPC Confidential                        4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50761" y="540913"/>
            <a:ext cx="11204619" cy="5962918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r>
              <a:rPr lang="en-US" sz="2200" b="1" dirty="0" smtClean="0">
                <a:latin typeface="Calibri" panose="020F0502020204030204" pitchFamily="34" charset="0"/>
              </a:rPr>
              <a:t> </a:t>
            </a:r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</a:endParaRPr>
          </a:p>
          <a:p>
            <a:pPr algn="just">
              <a:lnSpc>
                <a:spcPct val="200000"/>
              </a:lnSpc>
            </a:pPr>
            <a:endParaRPr lang="en-US" dirty="0" smtClean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180" y="1507834"/>
            <a:ext cx="4429271" cy="4029075"/>
          </a:xfrm>
          <a:prstGeom prst="rect">
            <a:avLst/>
          </a:prstGeom>
          <a:effectLst>
            <a:glow rad="508000">
              <a:schemeClr val="accent1">
                <a:alpha val="40000"/>
              </a:schemeClr>
            </a:glo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3655" y="1507834"/>
            <a:ext cx="6181725" cy="4029075"/>
          </a:xfrm>
          <a:prstGeom prst="rect">
            <a:avLst/>
          </a:prstGeom>
          <a:effectLst>
            <a:glow rad="508000">
              <a:schemeClr val="accent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2719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92420" y="135848"/>
            <a:ext cx="4114800" cy="365125"/>
          </a:xfrm>
        </p:spPr>
        <p:txBody>
          <a:bodyPr/>
          <a:lstStyle/>
          <a:p>
            <a:r>
              <a:rPr lang="en-US" dirty="0" smtClean="0"/>
              <a:t>PRPC Confidential                        4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50761" y="540913"/>
            <a:ext cx="11204619" cy="5962918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pPr lvl="1"/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</a:endParaRPr>
          </a:p>
          <a:p>
            <a:pPr algn="just">
              <a:lnSpc>
                <a:spcPct val="200000"/>
              </a:lnSpc>
            </a:pPr>
            <a:endParaRPr lang="en-US" dirty="0" smtClean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243380" y="1040004"/>
            <a:ext cx="3749040" cy="528452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 err="1" smtClean="0">
                <a:latin typeface="Calibri" panose="020F0502020204030204" pitchFamily="34" charset="0"/>
              </a:rPr>
              <a:t>Pega</a:t>
            </a:r>
            <a:r>
              <a:rPr lang="en-US" sz="2200" b="1" dirty="0" smtClean="0">
                <a:latin typeface="Calibri" panose="020F0502020204030204" pitchFamily="34" charset="0"/>
              </a:rPr>
              <a:t> Versions</a:t>
            </a:r>
            <a:endParaRPr lang="en-US" sz="2200" b="1" dirty="0">
              <a:latin typeface="Calibri" panose="020F0502020204030204" pitchFamily="34" charset="0"/>
            </a:endParaRPr>
          </a:p>
          <a:p>
            <a:pPr algn="just"/>
            <a:endParaRPr lang="en-US" sz="2200" b="1" dirty="0">
              <a:latin typeface="Calibri" panose="020F0502020204030204" pitchFamily="34" charset="0"/>
            </a:endParaRPr>
          </a:p>
          <a:p>
            <a:pPr marL="742950" lvl="1" indent="-285750" algn="just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b="1" smtClean="0"/>
              <a:t>8.5 </a:t>
            </a:r>
            <a:r>
              <a:rPr lang="en-US" b="1" dirty="0" smtClean="0"/>
              <a:t>latest version</a:t>
            </a:r>
          </a:p>
          <a:p>
            <a:pPr marL="742950" lvl="1" indent="-285750" algn="just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b="1" dirty="0" smtClean="0"/>
              <a:t>8.1 in 2018</a:t>
            </a:r>
          </a:p>
          <a:p>
            <a:pPr marL="742950" lvl="1" indent="-285750" algn="just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b="1" dirty="0" smtClean="0"/>
              <a:t>7.3 </a:t>
            </a:r>
            <a:endParaRPr lang="en-US" b="1" dirty="0"/>
          </a:p>
          <a:p>
            <a:pPr marL="742950" lvl="1" indent="-285750" algn="just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7.1  in 2014</a:t>
            </a:r>
          </a:p>
          <a:p>
            <a:pPr marL="742950" lvl="1" indent="-285750" algn="just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6.3</a:t>
            </a:r>
          </a:p>
          <a:p>
            <a:pPr marL="742950" lvl="1" indent="-285750" algn="just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6.2</a:t>
            </a:r>
          </a:p>
          <a:p>
            <a:pPr marL="742950" lvl="1" indent="-285750" algn="just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6.1  in 2010</a:t>
            </a:r>
          </a:p>
          <a:p>
            <a:pPr marL="742950" lvl="1" indent="-285750" algn="just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5.5</a:t>
            </a:r>
          </a:p>
          <a:p>
            <a:pPr marL="742950" lvl="1" indent="-285750" algn="just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5.4 in 2006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652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92420" y="135848"/>
            <a:ext cx="4114800" cy="365125"/>
          </a:xfrm>
        </p:spPr>
        <p:txBody>
          <a:bodyPr/>
          <a:lstStyle/>
          <a:p>
            <a:r>
              <a:rPr lang="en-US" dirty="0" smtClean="0"/>
              <a:t>PRPC Confidential                        4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50761" y="540913"/>
            <a:ext cx="11204619" cy="5962918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pPr lvl="1"/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</a:endParaRPr>
          </a:p>
          <a:p>
            <a:pPr algn="just">
              <a:lnSpc>
                <a:spcPct val="200000"/>
              </a:lnSpc>
            </a:pPr>
            <a:endParaRPr lang="en-US" dirty="0" smtClean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808474" y="1687117"/>
            <a:ext cx="7052977" cy="3400931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>
                <a:latin typeface="Calibri" panose="020F0502020204030204" pitchFamily="34" charset="0"/>
              </a:rPr>
              <a:t>Prerequisites</a:t>
            </a:r>
          </a:p>
          <a:p>
            <a:pPr algn="just"/>
            <a:endParaRPr lang="en-US" sz="2200" b="1" dirty="0">
              <a:latin typeface="Calibri" panose="020F0502020204030204" pitchFamily="34" charset="0"/>
            </a:endParaRPr>
          </a:p>
          <a:p>
            <a:pPr marL="742950" lvl="1" indent="-285750" algn="just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JDK </a:t>
            </a:r>
          </a:p>
          <a:p>
            <a:pPr marL="742950" lvl="1" indent="-285750" algn="just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Application Server ( Tomcat / </a:t>
            </a:r>
            <a:r>
              <a:rPr lang="en-US" b="1" dirty="0" err="1"/>
              <a:t>Weblogic</a:t>
            </a:r>
            <a:r>
              <a:rPr lang="en-US" b="1" dirty="0"/>
              <a:t> / </a:t>
            </a:r>
            <a:r>
              <a:rPr lang="en-US" b="1" dirty="0" err="1"/>
              <a:t>Websphere</a:t>
            </a:r>
            <a:r>
              <a:rPr lang="en-US" b="1" dirty="0"/>
              <a:t> / </a:t>
            </a:r>
            <a:r>
              <a:rPr lang="en-US" b="1" dirty="0" err="1"/>
              <a:t>Jboss</a:t>
            </a:r>
            <a:r>
              <a:rPr lang="en-US" b="1" dirty="0"/>
              <a:t>)</a:t>
            </a:r>
          </a:p>
          <a:p>
            <a:pPr marL="742950" lvl="1" indent="-285750" algn="just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Database(Oracle / MSSQL / My SQL / Post-Grey SQL / IBM DB2 )</a:t>
            </a:r>
          </a:p>
          <a:p>
            <a:pPr marL="742950" lvl="1" indent="-285750" algn="just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Minimum of 8 to 16 GB RAM</a:t>
            </a:r>
          </a:p>
          <a:p>
            <a:pPr marL="742950" lvl="1" indent="-285750" algn="just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60 GB HDD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287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92420" y="135848"/>
            <a:ext cx="4114800" cy="365125"/>
          </a:xfrm>
        </p:spPr>
        <p:txBody>
          <a:bodyPr/>
          <a:lstStyle/>
          <a:p>
            <a:r>
              <a:rPr lang="en-US" dirty="0" smtClean="0"/>
              <a:t>PRPC Confidential                        4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50761" y="540913"/>
            <a:ext cx="11204619" cy="5962918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endParaRPr lang="en-US" sz="2200" b="1" dirty="0" smtClean="0">
              <a:latin typeface="Calibri" panose="020F0502020204030204" pitchFamily="34" charset="0"/>
            </a:endParaRPr>
          </a:p>
          <a:p>
            <a:endParaRPr lang="en-US" sz="2200" b="1" dirty="0">
              <a:latin typeface="Calibri" panose="020F0502020204030204" pitchFamily="34" charset="0"/>
            </a:endParaRPr>
          </a:p>
          <a:p>
            <a:pPr lvl="1"/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</a:endParaRPr>
          </a:p>
          <a:p>
            <a:pPr algn="just">
              <a:lnSpc>
                <a:spcPct val="200000"/>
              </a:lnSpc>
            </a:pPr>
            <a:endParaRPr lang="en-US" dirty="0" smtClean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766271" y="2109147"/>
            <a:ext cx="7052977" cy="245913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 err="1" smtClean="0">
                <a:latin typeface="Calibri" panose="020F0502020204030204" pitchFamily="34" charset="0"/>
              </a:rPr>
              <a:t>Pega</a:t>
            </a:r>
            <a:r>
              <a:rPr lang="en-US" sz="2200" b="1" dirty="0" smtClean="0">
                <a:latin typeface="Calibri" panose="020F0502020204030204" pitchFamily="34" charset="0"/>
              </a:rPr>
              <a:t> Editions</a:t>
            </a:r>
            <a:endParaRPr lang="en-US" sz="2200" b="1" dirty="0">
              <a:latin typeface="Calibri" panose="020F0502020204030204" pitchFamily="34" charset="0"/>
            </a:endParaRPr>
          </a:p>
          <a:p>
            <a:pPr algn="just"/>
            <a:endParaRPr lang="en-US" sz="2200" b="1" dirty="0">
              <a:latin typeface="Calibri" panose="020F0502020204030204" pitchFamily="34" charset="0"/>
            </a:endParaRPr>
          </a:p>
          <a:p>
            <a:pPr marL="742950" lvl="1" indent="-285750" algn="just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b="1" dirty="0" smtClean="0"/>
              <a:t>Personal Edition</a:t>
            </a:r>
          </a:p>
          <a:p>
            <a:pPr marL="742950" lvl="1" indent="-285750" algn="just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b="1" dirty="0" smtClean="0"/>
              <a:t>Enterprise or Professional Edition</a:t>
            </a:r>
            <a:endParaRPr lang="en-US" b="1" dirty="0"/>
          </a:p>
          <a:p>
            <a:pPr marL="742950" lvl="1" indent="-285750" algn="just">
              <a:lnSpc>
                <a:spcPct val="170000"/>
              </a:lnSpc>
              <a:buFont typeface="Wingdings" panose="05000000000000000000" pitchFamily="2" charset="2"/>
              <a:buChar char="§"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489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92420" y="135848"/>
            <a:ext cx="4114800" cy="365125"/>
          </a:xfrm>
        </p:spPr>
        <p:txBody>
          <a:bodyPr/>
          <a:lstStyle/>
          <a:p>
            <a:r>
              <a:rPr lang="en-US" dirty="0" smtClean="0"/>
              <a:t>PRPC Confidential                        4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50761" y="540913"/>
            <a:ext cx="11204619" cy="5962918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r>
              <a:rPr lang="en-US" sz="2200" b="1" dirty="0" err="1" smtClean="0">
                <a:latin typeface="Calibri" panose="020F0502020204030204" pitchFamily="34" charset="0"/>
              </a:rPr>
              <a:t>Pega</a:t>
            </a:r>
            <a:r>
              <a:rPr lang="en-US" sz="2200" b="1" dirty="0" smtClean="0">
                <a:latin typeface="Calibri" panose="020F0502020204030204" pitchFamily="34" charset="0"/>
              </a:rPr>
              <a:t> Architecture</a:t>
            </a:r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</a:endParaRPr>
          </a:p>
          <a:p>
            <a:pPr algn="just">
              <a:lnSpc>
                <a:spcPct val="200000"/>
              </a:lnSpc>
            </a:pPr>
            <a:endParaRPr lang="en-US" dirty="0" smtClean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35728" y="1381199"/>
            <a:ext cx="10234684" cy="4710112"/>
          </a:xfrm>
          <a:prstGeom prst="rect">
            <a:avLst/>
          </a:prstGeom>
          <a:effectLst>
            <a:glow rad="508000">
              <a:schemeClr val="accent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761320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92420" y="135848"/>
            <a:ext cx="4114800" cy="365125"/>
          </a:xfrm>
        </p:spPr>
        <p:txBody>
          <a:bodyPr/>
          <a:lstStyle/>
          <a:p>
            <a:r>
              <a:rPr lang="en-US" dirty="0" smtClean="0"/>
              <a:t>PRPC Confidential                        1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50761" y="540913"/>
            <a:ext cx="11204619" cy="5962918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4000" b="1" dirty="0" smtClean="0">
                <a:latin typeface="Calibri Light" panose="020F0302020204030204" pitchFamily="34" charset="0"/>
              </a:rPr>
              <a:t>			</a:t>
            </a:r>
          </a:p>
          <a:p>
            <a:endParaRPr lang="en-IN" sz="4000" b="1" dirty="0">
              <a:latin typeface="Calibri Light" panose="020F0302020204030204" pitchFamily="34" charset="0"/>
            </a:endParaRPr>
          </a:p>
          <a:p>
            <a:r>
              <a:rPr lang="en-IN" sz="4000" b="1" dirty="0" smtClean="0">
                <a:latin typeface="Calibri Light" panose="020F0302020204030204" pitchFamily="34" charset="0"/>
              </a:rPr>
              <a:t>			</a:t>
            </a:r>
            <a:r>
              <a:rPr lang="en-IN" sz="40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 Light" panose="020F0302020204030204" pitchFamily="34" charset="0"/>
              </a:rPr>
              <a:t>Pega</a:t>
            </a:r>
            <a:r>
              <a:rPr lang="en-IN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 Light" panose="020F0302020204030204" pitchFamily="34" charset="0"/>
              </a:rPr>
              <a:t> </a:t>
            </a:r>
            <a:r>
              <a:rPr lang="en-IN" sz="4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 Light" panose="020F0302020204030204" pitchFamily="34" charset="0"/>
              </a:rPr>
              <a:t>Infinity</a:t>
            </a:r>
            <a:endParaRPr lang="en-IN" sz="4000" b="1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IN" sz="4000" b="1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							</a:t>
            </a:r>
          </a:p>
          <a:p>
            <a:endParaRPr lang="en-IN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IN" b="1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IN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IN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							</a:t>
            </a:r>
            <a:r>
              <a:rPr lang="en-IN" sz="1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PRPC</a:t>
            </a:r>
          </a:p>
          <a:p>
            <a:r>
              <a:rPr lang="en-IN" sz="1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									</a:t>
            </a:r>
            <a:r>
              <a:rPr lang="en-IN" sz="1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Rajendra</a:t>
            </a:r>
            <a:r>
              <a:rPr lang="en-IN" sz="1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 </a:t>
            </a:r>
            <a:r>
              <a:rPr lang="en-IN" sz="16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Gaddam</a:t>
            </a:r>
            <a:endParaRPr lang="en-US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7E834-A61D-4925-91BF-F462681A5D2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083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92420" y="135848"/>
            <a:ext cx="4114800" cy="365125"/>
          </a:xfrm>
        </p:spPr>
        <p:txBody>
          <a:bodyPr/>
          <a:lstStyle/>
          <a:p>
            <a:r>
              <a:rPr lang="en-US" dirty="0" smtClean="0"/>
              <a:t>PRPC Confidential                        4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50761" y="540913"/>
            <a:ext cx="11204619" cy="5962918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r>
              <a:rPr lang="en-IN" sz="2400" b="1" dirty="0" err="1" smtClean="0">
                <a:latin typeface="Calibri" panose="020F0502020204030204" pitchFamily="34" charset="0"/>
              </a:rPr>
              <a:t>Pega</a:t>
            </a:r>
            <a:r>
              <a:rPr lang="en-IN" sz="2400" b="1" dirty="0" smtClean="0">
                <a:latin typeface="Calibri" panose="020F0502020204030204" pitchFamily="34" charset="0"/>
              </a:rPr>
              <a:t> Infinity Application Platform</a:t>
            </a: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Provides a </a:t>
            </a:r>
            <a:r>
              <a:rPr lang="en-US" sz="2000" b="1" dirty="0"/>
              <a:t>single, unified platform </a:t>
            </a:r>
            <a:r>
              <a:rPr lang="en-US" sz="2000" dirty="0"/>
              <a:t>to build or modify enterprise </a:t>
            </a:r>
            <a:r>
              <a:rPr lang="en-US" sz="2000" dirty="0" smtClean="0"/>
              <a:t>applications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000" b="1" dirty="0">
              <a:latin typeface="Calibri" panose="020F050202020403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Business and IT stakeholders work together to capture business </a:t>
            </a:r>
            <a:r>
              <a:rPr lang="en-US" sz="2000" dirty="0" smtClean="0"/>
              <a:t>requirements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000" b="1" dirty="0">
              <a:latin typeface="Calibri" panose="020F050202020403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 smtClean="0"/>
              <a:t>No/less </a:t>
            </a:r>
            <a:r>
              <a:rPr lang="en-US" sz="2000" dirty="0"/>
              <a:t>coding </a:t>
            </a:r>
            <a:r>
              <a:rPr lang="en-US" sz="2000" dirty="0" smtClean="0"/>
              <a:t>required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000" b="1" dirty="0">
              <a:latin typeface="Calibri" panose="020F050202020403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Automatically generates the application and its documentation</a:t>
            </a:r>
            <a:endParaRPr lang="en-IN" sz="20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</a:endParaRPr>
          </a:p>
          <a:p>
            <a:pPr algn="just">
              <a:lnSpc>
                <a:spcPct val="200000"/>
              </a:lnSpc>
            </a:pPr>
            <a:endParaRPr lang="en-US" dirty="0" smtClean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113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92420" y="135848"/>
            <a:ext cx="4114800" cy="365125"/>
          </a:xfrm>
        </p:spPr>
        <p:txBody>
          <a:bodyPr/>
          <a:lstStyle/>
          <a:p>
            <a:r>
              <a:rPr lang="en-US" dirty="0" smtClean="0"/>
              <a:t>PRPC Confidential                        4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50761" y="540913"/>
            <a:ext cx="11204619" cy="5962918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r>
              <a:rPr lang="en-IN" sz="2400" b="1" dirty="0" smtClean="0">
                <a:latin typeface="Calibri" panose="020F0502020204030204" pitchFamily="34" charset="0"/>
              </a:rPr>
              <a:t>Traditional Application Development</a:t>
            </a: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</a:endParaRPr>
          </a:p>
          <a:p>
            <a:pPr algn="just">
              <a:lnSpc>
                <a:spcPct val="200000"/>
              </a:lnSpc>
            </a:pPr>
            <a:endParaRPr lang="en-US" dirty="0" smtClean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406" y="1520871"/>
            <a:ext cx="5856514" cy="4351338"/>
          </a:xfrm>
          <a:prstGeom prst="rect">
            <a:avLst/>
          </a:prstGeom>
          <a:effectLst>
            <a:outerShdw blurRad="50800" dist="38100" dir="18900000" algn="bl" rotWithShape="0">
              <a:schemeClr val="accent2">
                <a:lumMod val="75000"/>
                <a:alpha val="40000"/>
              </a:schemeClr>
            </a:outerShdw>
          </a:effectLst>
        </p:spPr>
      </p:pic>
      <p:sp>
        <p:nvSpPr>
          <p:cNvPr id="2" name="TextBox 1"/>
          <p:cNvSpPr txBox="1"/>
          <p:nvPr/>
        </p:nvSpPr>
        <p:spPr>
          <a:xfrm>
            <a:off x="633046" y="1803714"/>
            <a:ext cx="49589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dk1"/>
                </a:solidFill>
              </a:rPr>
              <a:t>Focus on creating individual business applications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dk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dk1"/>
                </a:solidFill>
              </a:rPr>
              <a:t>Individual applications must be integrated with each other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dk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dk1"/>
                </a:solidFill>
              </a:rPr>
              <a:t>Each application has its own requirements, analytics, business policies, tools, and repositories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dk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dk1"/>
                </a:solidFill>
              </a:rPr>
              <a:t>Sharing and reusing application components is difficult</a:t>
            </a:r>
          </a:p>
        </p:txBody>
      </p:sp>
    </p:spTree>
    <p:extLst>
      <p:ext uri="{BB962C8B-B14F-4D97-AF65-F5344CB8AC3E}">
        <p14:creationId xmlns:p14="http://schemas.microsoft.com/office/powerpoint/2010/main" val="2263098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92420" y="135848"/>
            <a:ext cx="4114800" cy="365125"/>
          </a:xfrm>
        </p:spPr>
        <p:txBody>
          <a:bodyPr/>
          <a:lstStyle/>
          <a:p>
            <a:r>
              <a:rPr lang="en-US" dirty="0" smtClean="0"/>
              <a:t>PRPC Confidential                        4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50761" y="540913"/>
            <a:ext cx="11204619" cy="5962918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r>
              <a:rPr lang="en-IN" sz="2400" b="1" dirty="0" err="1" smtClean="0">
                <a:latin typeface="Calibri" panose="020F0502020204030204" pitchFamily="34" charset="0"/>
              </a:rPr>
              <a:t>Pega</a:t>
            </a:r>
            <a:r>
              <a:rPr lang="en-IN" sz="2400" b="1" dirty="0" smtClean="0">
                <a:latin typeface="Calibri" panose="020F0502020204030204" pitchFamily="34" charset="0"/>
              </a:rPr>
              <a:t> Unified Application Development</a:t>
            </a: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</a:endParaRPr>
          </a:p>
          <a:p>
            <a:pPr algn="just">
              <a:lnSpc>
                <a:spcPct val="200000"/>
              </a:lnSpc>
            </a:pPr>
            <a:endParaRPr lang="en-US" dirty="0" smtClean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33046" y="1378894"/>
            <a:ext cx="49589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/>
              <a:t>Functionality is configured using a consistent set of </a:t>
            </a:r>
            <a:r>
              <a:rPr lang="en-US" sz="2000" dirty="0" smtClean="0"/>
              <a:t>components</a:t>
            </a:r>
          </a:p>
          <a:p>
            <a:pPr algn="just"/>
            <a:endParaRPr lang="en-US" sz="2000" dirty="0">
              <a:solidFill>
                <a:schemeClr val="dk1"/>
              </a:solidFill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Components are defined and stored </a:t>
            </a:r>
            <a:r>
              <a:rPr lang="en-US" sz="2000" dirty="0" smtClean="0"/>
              <a:t>together</a:t>
            </a:r>
            <a:endParaRPr lang="en-US" sz="20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000" dirty="0" smtClean="0">
              <a:solidFill>
                <a:schemeClr val="dk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/>
              <a:t>One </a:t>
            </a:r>
            <a:r>
              <a:rPr lang="en-US" sz="2000" b="1" dirty="0"/>
              <a:t>System of </a:t>
            </a:r>
            <a:r>
              <a:rPr lang="en-US" sz="2000" b="1" dirty="0" smtClean="0"/>
              <a:t>Record</a:t>
            </a:r>
          </a:p>
          <a:p>
            <a:pPr algn="just"/>
            <a:endParaRPr lang="en-US" sz="2000" dirty="0">
              <a:solidFill>
                <a:schemeClr val="dk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/>
              <a:t>Common set of </a:t>
            </a:r>
            <a:r>
              <a:rPr lang="en-US" sz="2000" dirty="0" smtClean="0"/>
              <a:t>tools</a:t>
            </a:r>
          </a:p>
          <a:p>
            <a:pPr algn="just"/>
            <a:endParaRPr lang="en-US" sz="2000" dirty="0">
              <a:solidFill>
                <a:schemeClr val="dk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b="1" dirty="0"/>
              <a:t>Model-based</a:t>
            </a:r>
            <a:r>
              <a:rPr lang="en-US" sz="2000" dirty="0"/>
              <a:t> application design &amp; development </a:t>
            </a:r>
            <a:r>
              <a:rPr lang="en-US" sz="2000" dirty="0" smtClean="0"/>
              <a:t>approach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dk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b="1" dirty="0"/>
              <a:t>Sharing and reusing application components is Easier</a:t>
            </a:r>
            <a:endParaRPr lang="en-US" sz="2000" dirty="0">
              <a:solidFill>
                <a:schemeClr val="dk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946" y="1385798"/>
            <a:ext cx="6063434" cy="4621483"/>
          </a:xfrm>
          <a:prstGeom prst="rect">
            <a:avLst/>
          </a:prstGeom>
          <a:effectLst>
            <a:outerShdw blurRad="50800" dist="38100" dir="18900000" algn="bl" rotWithShape="0">
              <a:schemeClr val="accent2">
                <a:lumMod val="75000"/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2512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92420" y="135848"/>
            <a:ext cx="4114800" cy="365125"/>
          </a:xfrm>
        </p:spPr>
        <p:txBody>
          <a:bodyPr/>
          <a:lstStyle/>
          <a:p>
            <a:r>
              <a:rPr lang="en-US" dirty="0" smtClean="0"/>
              <a:t>PRPC Confidential                        4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50761" y="540913"/>
            <a:ext cx="11204619" cy="5962918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r>
              <a:rPr lang="en-IN" sz="2400" b="1" dirty="0" smtClean="0">
                <a:latin typeface="Calibri" panose="020F0502020204030204" pitchFamily="34" charset="0"/>
              </a:rPr>
              <a:t>Model-based Application Design</a:t>
            </a: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sz="2200" b="1" dirty="0" smtClean="0">
              <a:latin typeface="Calibri" panose="020F0502020204030204" pitchFamily="34" charset="0"/>
            </a:endParaRPr>
          </a:p>
          <a:p>
            <a:endParaRPr lang="en-IN" sz="2200" b="1" dirty="0">
              <a:latin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</a:endParaRPr>
          </a:p>
          <a:p>
            <a:pPr algn="just">
              <a:lnSpc>
                <a:spcPct val="200000"/>
              </a:lnSpc>
            </a:pPr>
            <a:endParaRPr lang="en-US" dirty="0" smtClean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33046" y="1957602"/>
            <a:ext cx="49589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/>
              <a:t>Ensures visibility among all team members to an overall </a:t>
            </a:r>
            <a:r>
              <a:rPr lang="en-US" sz="2000" dirty="0" smtClean="0"/>
              <a:t>application</a:t>
            </a:r>
          </a:p>
          <a:p>
            <a:pPr algn="just"/>
            <a:endParaRPr lang="en-US" sz="2000" dirty="0">
              <a:solidFill>
                <a:schemeClr val="dk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b="1" dirty="0"/>
              <a:t>No coding </a:t>
            </a:r>
            <a:r>
              <a:rPr lang="en-US" sz="2000" dirty="0"/>
              <a:t>is </a:t>
            </a:r>
            <a:r>
              <a:rPr lang="en-US" sz="2000" dirty="0" smtClean="0"/>
              <a:t>required</a:t>
            </a:r>
          </a:p>
          <a:p>
            <a:pPr algn="just"/>
            <a:endParaRPr lang="en-US" sz="2000" dirty="0">
              <a:solidFill>
                <a:schemeClr val="dk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/>
              <a:t>Team members can also identify potential </a:t>
            </a:r>
            <a:r>
              <a:rPr lang="en-US" sz="2000" dirty="0" smtClean="0"/>
              <a:t>gaps</a:t>
            </a:r>
          </a:p>
          <a:p>
            <a:pPr algn="just"/>
            <a:endParaRPr lang="en-US" sz="2000" dirty="0">
              <a:solidFill>
                <a:schemeClr val="dk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/>
              <a:t>As a result, updating processes, user interfaces, and other business rules is easier</a:t>
            </a:r>
            <a:endParaRPr lang="en-US" sz="2000" dirty="0">
              <a:solidFill>
                <a:schemeClr val="dk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946" y="1279234"/>
            <a:ext cx="6063434" cy="4486275"/>
          </a:xfrm>
          <a:prstGeom prst="rect">
            <a:avLst/>
          </a:prstGeom>
          <a:effectLst>
            <a:outerShdw blurRad="50800" dist="38100" dir="18900000" algn="bl" rotWithShape="0">
              <a:schemeClr val="accent2">
                <a:lumMod val="75000"/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1925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92420" y="135848"/>
            <a:ext cx="4114800" cy="365125"/>
          </a:xfrm>
        </p:spPr>
        <p:txBody>
          <a:bodyPr/>
          <a:lstStyle/>
          <a:p>
            <a:r>
              <a:rPr lang="en-US" dirty="0" smtClean="0"/>
              <a:t>PRPC Confidential                        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50761" y="540913"/>
            <a:ext cx="11204619" cy="5962918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lvl="8"/>
            <a:r>
              <a:rPr lang="en-US" sz="40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THANKYOU</a:t>
            </a:r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54762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 Yellow">
    <a:dk1>
      <a:sysClr val="windowText" lastClr="000000"/>
    </a:dk1>
    <a:lt1>
      <a:sysClr val="window" lastClr="FFFFFF"/>
    </a:lt1>
    <a:dk2>
      <a:srgbClr val="455F51"/>
    </a:dk2>
    <a:lt2>
      <a:srgbClr val="E2DFCC"/>
    </a:lt2>
    <a:accent1>
      <a:srgbClr val="99CB38"/>
    </a:accent1>
    <a:accent2>
      <a:srgbClr val="63A537"/>
    </a:accent2>
    <a:accent3>
      <a:srgbClr val="37A76F"/>
    </a:accent3>
    <a:accent4>
      <a:srgbClr val="44C1A3"/>
    </a:accent4>
    <a:accent5>
      <a:srgbClr val="4EB3CF"/>
    </a:accent5>
    <a:accent6>
      <a:srgbClr val="51C3F9"/>
    </a:accent6>
    <a:hlink>
      <a:srgbClr val="EE7B08"/>
    </a:hlink>
    <a:folHlink>
      <a:srgbClr val="977B2D"/>
    </a:folHlink>
  </a:clrScheme>
</a:themeOverride>
</file>

<file path=ppt/theme/themeOverride2.xml><?xml version="1.0" encoding="utf-8"?>
<a:themeOverride xmlns:a="http://schemas.openxmlformats.org/drawingml/2006/main">
  <a:clrScheme name="Green Yellow">
    <a:dk1>
      <a:sysClr val="windowText" lastClr="000000"/>
    </a:dk1>
    <a:lt1>
      <a:sysClr val="window" lastClr="FFFFFF"/>
    </a:lt1>
    <a:dk2>
      <a:srgbClr val="455F51"/>
    </a:dk2>
    <a:lt2>
      <a:srgbClr val="E2DFCC"/>
    </a:lt2>
    <a:accent1>
      <a:srgbClr val="99CB38"/>
    </a:accent1>
    <a:accent2>
      <a:srgbClr val="63A537"/>
    </a:accent2>
    <a:accent3>
      <a:srgbClr val="37A76F"/>
    </a:accent3>
    <a:accent4>
      <a:srgbClr val="44C1A3"/>
    </a:accent4>
    <a:accent5>
      <a:srgbClr val="4EB3CF"/>
    </a:accent5>
    <a:accent6>
      <a:srgbClr val="51C3F9"/>
    </a:accent6>
    <a:hlink>
      <a:srgbClr val="EE7B08"/>
    </a:hlink>
    <a:folHlink>
      <a:srgbClr val="977B2D"/>
    </a:folHlink>
  </a:clrScheme>
</a:themeOverride>
</file>

<file path=ppt/theme/themeOverride3.xml><?xml version="1.0" encoding="utf-8"?>
<a:themeOverride xmlns:a="http://schemas.openxmlformats.org/drawingml/2006/main">
  <a:clrScheme name="Green Yellow">
    <a:dk1>
      <a:sysClr val="windowText" lastClr="000000"/>
    </a:dk1>
    <a:lt1>
      <a:sysClr val="window" lastClr="FFFFFF"/>
    </a:lt1>
    <a:dk2>
      <a:srgbClr val="455F51"/>
    </a:dk2>
    <a:lt2>
      <a:srgbClr val="E2DFCC"/>
    </a:lt2>
    <a:accent1>
      <a:srgbClr val="99CB38"/>
    </a:accent1>
    <a:accent2>
      <a:srgbClr val="63A537"/>
    </a:accent2>
    <a:accent3>
      <a:srgbClr val="37A76F"/>
    </a:accent3>
    <a:accent4>
      <a:srgbClr val="44C1A3"/>
    </a:accent4>
    <a:accent5>
      <a:srgbClr val="4EB3CF"/>
    </a:accent5>
    <a:accent6>
      <a:srgbClr val="51C3F9"/>
    </a:accent6>
    <a:hlink>
      <a:srgbClr val="EE7B08"/>
    </a:hlink>
    <a:folHlink>
      <a:srgbClr val="977B2D"/>
    </a:folHlink>
  </a:clrScheme>
</a:themeOverride>
</file>

<file path=ppt/theme/themeOverride4.xml><?xml version="1.0" encoding="utf-8"?>
<a:themeOverride xmlns:a="http://schemas.openxmlformats.org/drawingml/2006/main">
  <a:clrScheme name="Green Yellow">
    <a:dk1>
      <a:sysClr val="windowText" lastClr="000000"/>
    </a:dk1>
    <a:lt1>
      <a:sysClr val="window" lastClr="FFFFFF"/>
    </a:lt1>
    <a:dk2>
      <a:srgbClr val="455F51"/>
    </a:dk2>
    <a:lt2>
      <a:srgbClr val="E2DFCC"/>
    </a:lt2>
    <a:accent1>
      <a:srgbClr val="99CB38"/>
    </a:accent1>
    <a:accent2>
      <a:srgbClr val="63A537"/>
    </a:accent2>
    <a:accent3>
      <a:srgbClr val="37A76F"/>
    </a:accent3>
    <a:accent4>
      <a:srgbClr val="44C1A3"/>
    </a:accent4>
    <a:accent5>
      <a:srgbClr val="4EB3CF"/>
    </a:accent5>
    <a:accent6>
      <a:srgbClr val="51C3F9"/>
    </a:accent6>
    <a:hlink>
      <a:srgbClr val="EE7B08"/>
    </a:hlink>
    <a:folHlink>
      <a:srgbClr val="977B2D"/>
    </a:folHlink>
  </a:clrScheme>
</a:themeOverride>
</file>

<file path=ppt/theme/themeOverride5.xml><?xml version="1.0" encoding="utf-8"?>
<a:themeOverride xmlns:a="http://schemas.openxmlformats.org/drawingml/2006/main">
  <a:clrScheme name="Green Yellow">
    <a:dk1>
      <a:sysClr val="windowText" lastClr="000000"/>
    </a:dk1>
    <a:lt1>
      <a:sysClr val="window" lastClr="FFFFFF"/>
    </a:lt1>
    <a:dk2>
      <a:srgbClr val="455F51"/>
    </a:dk2>
    <a:lt2>
      <a:srgbClr val="E2DFCC"/>
    </a:lt2>
    <a:accent1>
      <a:srgbClr val="99CB38"/>
    </a:accent1>
    <a:accent2>
      <a:srgbClr val="63A537"/>
    </a:accent2>
    <a:accent3>
      <a:srgbClr val="37A76F"/>
    </a:accent3>
    <a:accent4>
      <a:srgbClr val="44C1A3"/>
    </a:accent4>
    <a:accent5>
      <a:srgbClr val="4EB3CF"/>
    </a:accent5>
    <a:accent6>
      <a:srgbClr val="51C3F9"/>
    </a:accent6>
    <a:hlink>
      <a:srgbClr val="EE7B08"/>
    </a:hlink>
    <a:folHlink>
      <a:srgbClr val="977B2D"/>
    </a:folHlink>
  </a:clrScheme>
</a:themeOverride>
</file>

<file path=ppt/theme/themeOverride6.xml><?xml version="1.0" encoding="utf-8"?>
<a:themeOverride xmlns:a="http://schemas.openxmlformats.org/drawingml/2006/main">
  <a:clrScheme name="Green Yellow">
    <a:dk1>
      <a:sysClr val="windowText" lastClr="000000"/>
    </a:dk1>
    <a:lt1>
      <a:sysClr val="window" lastClr="FFFFFF"/>
    </a:lt1>
    <a:dk2>
      <a:srgbClr val="455F51"/>
    </a:dk2>
    <a:lt2>
      <a:srgbClr val="E2DFCC"/>
    </a:lt2>
    <a:accent1>
      <a:srgbClr val="99CB38"/>
    </a:accent1>
    <a:accent2>
      <a:srgbClr val="63A537"/>
    </a:accent2>
    <a:accent3>
      <a:srgbClr val="37A76F"/>
    </a:accent3>
    <a:accent4>
      <a:srgbClr val="44C1A3"/>
    </a:accent4>
    <a:accent5>
      <a:srgbClr val="4EB3CF"/>
    </a:accent5>
    <a:accent6>
      <a:srgbClr val="51C3F9"/>
    </a:accent6>
    <a:hlink>
      <a:srgbClr val="EE7B08"/>
    </a:hlink>
    <a:folHlink>
      <a:srgbClr val="977B2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42168</TotalTime>
  <Words>835</Words>
  <Application>Microsoft Office PowerPoint</Application>
  <PresentationFormat>Widescreen</PresentationFormat>
  <Paragraphs>911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RajendraPGaddam</dc:creator>
  <cp:lastModifiedBy>Microsoft account</cp:lastModifiedBy>
  <cp:revision>118</cp:revision>
  <dcterms:created xsi:type="dcterms:W3CDTF">2016-09-13T04:13:19Z</dcterms:created>
  <dcterms:modified xsi:type="dcterms:W3CDTF">2021-09-06T12:30:34Z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7806f0b7-f413-4d8a-b7e1-1b594682339c</vt:lpwstr>
  </property>
  <property fmtid="{D5CDD505-2E9C-101B-9397-08002B2CF9AE}" pid="3" name="HCLClassification">
    <vt:lpwstr>HCL_Cla5s_Publ1c</vt:lpwstr>
  </property>
  <property fmtid="{D5CDD505-2E9C-101B-9397-08002B2CF9AE}" pid="4" name="HCL_Cla5s_D6">
    <vt:lpwstr>False</vt:lpwstr>
  </property>
</Properties>
</file>